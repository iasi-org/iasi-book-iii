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8E2D6"/>
    <a:srgbClr val="F5F1E8"/>
    <a:srgbClr val="11111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330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4158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6AD1D-6540-49AE-B741-26C11561358B}" type="datetimeFigureOut">
              <a:rPr lang="es-ES" smtClean="0"/>
              <a:t>06/09/2026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F168A-C2A5-48EC-93D1-A1B79A4FB6D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191972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6AD1D-6540-49AE-B741-26C11561358B}" type="datetimeFigureOut">
              <a:rPr lang="es-ES" smtClean="0"/>
              <a:t>06/09/2026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F168A-C2A5-48EC-93D1-A1B79A4FB6D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643097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6AD1D-6540-49AE-B741-26C11561358B}" type="datetimeFigureOut">
              <a:rPr lang="es-ES" smtClean="0"/>
              <a:t>06/09/2026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F168A-C2A5-48EC-93D1-A1B79A4FB6D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241555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6AD1D-6540-49AE-B741-26C11561358B}" type="datetimeFigureOut">
              <a:rPr lang="es-ES" smtClean="0"/>
              <a:t>06/09/2026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F168A-C2A5-48EC-93D1-A1B79A4FB6D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54084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6AD1D-6540-49AE-B741-26C11561358B}" type="datetimeFigureOut">
              <a:rPr lang="es-ES" smtClean="0"/>
              <a:t>06/09/2026</a:t>
            </a:fld>
            <a:endParaRPr lang="es-E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F168A-C2A5-48EC-93D1-A1B79A4FB6D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728981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6AD1D-6540-49AE-B741-26C11561358B}" type="datetimeFigureOut">
              <a:rPr lang="es-ES" smtClean="0"/>
              <a:t>06/09/2026</a:t>
            </a:fld>
            <a:endParaRPr lang="es-E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F168A-C2A5-48EC-93D1-A1B79A4FB6D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175654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6AD1D-6540-49AE-B741-26C11561358B}" type="datetimeFigureOut">
              <a:rPr lang="es-ES" smtClean="0"/>
              <a:t>06/09/2026</a:t>
            </a:fld>
            <a:endParaRPr lang="es-E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F168A-C2A5-48EC-93D1-A1B79A4FB6D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32034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6AD1D-6540-49AE-B741-26C11561358B}" type="datetimeFigureOut">
              <a:rPr lang="es-ES" smtClean="0"/>
              <a:t>06/09/2026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F168A-C2A5-48EC-93D1-A1B79A4FB6D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543819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6AD1D-6540-49AE-B741-26C11561358B}" type="datetimeFigureOut">
              <a:rPr lang="es-ES" smtClean="0"/>
              <a:t>06/09/2026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F168A-C2A5-48EC-93D1-A1B79A4FB6D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423433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6AD1D-6540-49AE-B741-26C11561358B}" type="datetimeFigureOut">
              <a:rPr lang="es-ES" smtClean="0"/>
              <a:t>06/09/2026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F168A-C2A5-48EC-93D1-A1B79A4FB6D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041497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6AD1D-6540-49AE-B741-26C11561358B}" type="datetimeFigureOut">
              <a:rPr lang="es-ES" smtClean="0"/>
              <a:t>06/09/2026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F168A-C2A5-48EC-93D1-A1B79A4FB6D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20182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alphaModFix amt="85000"/>
            <a:lum/>
          </a:blip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416AD1D-6540-49AE-B741-26C11561358B}" type="datetimeFigureOut">
              <a:rPr lang="es-ES" smtClean="0"/>
              <a:t>06/09/2026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9F168A-C2A5-48EC-93D1-A1B79A4FB6D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883163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85000"/>
          </a:blip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>
            <a:extLst>
              <a:ext uri="{FF2B5EF4-FFF2-40B4-BE49-F238E27FC236}">
                <a16:creationId xmlns:a16="http://schemas.microsoft.com/office/drawing/2014/main" id="{C918BF21-0F04-45DA-8A16-807B2A73D72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3200" y="3663240"/>
            <a:ext cx="4563835" cy="5702760"/>
          </a:xfrm>
          <a:prstGeom prst="rect">
            <a:avLst/>
          </a:prstGeom>
          <a:effectLst>
            <a:outerShdw blurRad="50800" dist="50800" dir="5400000" algn="ctr" rotWithShape="0">
              <a:srgbClr val="000000">
                <a:alpha val="0"/>
              </a:srgbClr>
            </a:outerShdw>
          </a:effectLst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9D312880-8107-4038-BF0F-51D5FD827E1D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63806" cy="1440000"/>
          </a:xfrm>
          <a:prstGeom prst="rect">
            <a:avLst/>
          </a:prstGeom>
        </p:spPr>
      </p:pic>
      <p:sp>
        <p:nvSpPr>
          <p:cNvPr id="12" name="Rectángulo 11">
            <a:extLst>
              <a:ext uri="{FF2B5EF4-FFF2-40B4-BE49-F238E27FC236}">
                <a16:creationId xmlns:a16="http://schemas.microsoft.com/office/drawing/2014/main" id="{52F9DACC-2E7F-4BD2-8783-4768FCA4D662}"/>
              </a:ext>
            </a:extLst>
          </p:cNvPr>
          <p:cNvSpPr/>
          <p:nvPr/>
        </p:nvSpPr>
        <p:spPr>
          <a:xfrm>
            <a:off x="0" y="9499002"/>
            <a:ext cx="6858000" cy="40699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1400" dirty="0">
                <a:latin typeface="Garamond" panose="02020404030301010803" pitchFamily="18" charset="0"/>
              </a:rPr>
              <a:t>Javier G. Grandez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F1A93F6-48DA-808C-F9D5-04CA89217AB0}"/>
              </a:ext>
            </a:extLst>
          </p:cNvPr>
          <p:cNvSpPr txBox="1"/>
          <p:nvPr/>
        </p:nvSpPr>
        <p:spPr>
          <a:xfrm>
            <a:off x="691147" y="2395317"/>
            <a:ext cx="5724644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sz="4000" b="1" i="1" dirty="0">
                <a:solidFill>
                  <a:schemeClr val="accent5">
                    <a:lumMod val="50000"/>
                  </a:schemeClr>
                </a:solidFill>
                <a:latin typeface="Garamond" panose="02020404030301010803" pitchFamily="18" charset="0"/>
              </a:rPr>
              <a:t>Ingeniería Aumentada </a:t>
            </a:r>
          </a:p>
          <a:p>
            <a:pPr algn="ctr"/>
            <a:r>
              <a:rPr lang="es-ES" sz="4000" b="1" i="1" dirty="0">
                <a:solidFill>
                  <a:schemeClr val="accent5">
                    <a:lumMod val="50000"/>
                  </a:schemeClr>
                </a:solidFill>
                <a:latin typeface="Garamond" panose="02020404030301010803" pitchFamily="18" charset="0"/>
              </a:rPr>
              <a:t>con Sistemas Inteligentes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8759BAC8-1AA8-B933-16AA-BF2A7F982989}"/>
              </a:ext>
            </a:extLst>
          </p:cNvPr>
          <p:cNvSpPr txBox="1"/>
          <p:nvPr/>
        </p:nvSpPr>
        <p:spPr>
          <a:xfrm>
            <a:off x="1718776" y="3851759"/>
            <a:ext cx="312136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>
                <a:solidFill>
                  <a:schemeClr val="accent5">
                    <a:lumMod val="50000"/>
                  </a:schemeClr>
                </a:solidFill>
                <a:latin typeface="Georgia" panose="02040502050405020303" pitchFamily="18" charset="0"/>
              </a:rPr>
              <a:t>Volumen III </a:t>
            </a:r>
            <a:endParaRPr lang="es-ES" dirty="0">
              <a:solidFill>
                <a:schemeClr val="accent5">
                  <a:lumMod val="50000"/>
                </a:schemeClr>
              </a:solidFill>
              <a:latin typeface="Georgia" panose="02040502050405020303" pitchFamily="18" charset="0"/>
            </a:endParaRPr>
          </a:p>
          <a:p>
            <a:pPr algn="ctr"/>
            <a:endParaRPr lang="es-ES" dirty="0">
              <a:solidFill>
                <a:schemeClr val="accent5">
                  <a:lumMod val="50000"/>
                </a:schemeClr>
              </a:solidFill>
              <a:latin typeface="Georgia" panose="02040502050405020303" pitchFamily="18" charset="0"/>
            </a:endParaRPr>
          </a:p>
          <a:p>
            <a:pPr algn="ctr"/>
            <a:r>
              <a:rPr lang="es-ES" dirty="0">
                <a:solidFill>
                  <a:schemeClr val="accent5">
                    <a:lumMod val="50000"/>
                  </a:schemeClr>
                </a:solidFill>
                <a:latin typeface="Georgia" panose="02040502050405020303" pitchFamily="18" charset="0"/>
              </a:rPr>
              <a:t>Del método a la Metodología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E7AB4F34-27A8-C2BA-FEC2-955A482C2141}"/>
              </a:ext>
            </a:extLst>
          </p:cNvPr>
          <p:cNvSpPr txBox="1"/>
          <p:nvPr/>
        </p:nvSpPr>
        <p:spPr>
          <a:xfrm>
            <a:off x="5538377" y="9548611"/>
            <a:ext cx="131962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1400" dirty="0">
                <a:solidFill>
                  <a:schemeClr val="bg1"/>
                </a:solidFill>
                <a:latin typeface="Garamond" panose="02020404030301010803" pitchFamily="18" charset="0"/>
              </a:rPr>
              <a:t>v1.0 -2026</a:t>
            </a:r>
          </a:p>
        </p:txBody>
      </p:sp>
    </p:spTree>
    <p:extLst>
      <p:ext uri="{BB962C8B-B14F-4D97-AF65-F5344CB8AC3E}">
        <p14:creationId xmlns:p14="http://schemas.microsoft.com/office/powerpoint/2010/main" val="178618735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47</TotalTime>
  <Words>19</Words>
  <Application>Microsoft Office PowerPoint</Application>
  <PresentationFormat>A4 (210 x 297 mm)</PresentationFormat>
  <Paragraphs>7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7" baseType="lpstr">
      <vt:lpstr>Arial</vt:lpstr>
      <vt:lpstr>Calibri</vt:lpstr>
      <vt:lpstr>Calibri Light</vt:lpstr>
      <vt:lpstr>Garamond</vt:lpstr>
      <vt:lpstr>Georgia</vt:lpstr>
      <vt:lpstr>Tema de Office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Javier Grandez</dc:creator>
  <cp:lastModifiedBy>Javier Grandez</cp:lastModifiedBy>
  <cp:revision>9</cp:revision>
  <dcterms:created xsi:type="dcterms:W3CDTF">2026-08-04T09:32:34Z</dcterms:created>
  <dcterms:modified xsi:type="dcterms:W3CDTF">2026-09-06T18:46:42Z</dcterms:modified>
</cp:coreProperties>
</file>